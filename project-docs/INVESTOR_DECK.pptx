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&amp; engineering</c:v>
                </c:pt>
              </c:strCache>
            </c:strRef>
          </c:tx>
          <c:spPr>
            <a:solidFill>
              <a:srgbClr val="58D6C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7111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Allocation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Infra, hardware, gateway lab</c:v>
                </c:pt>
              </c:strCache>
            </c:strRef>
          </c:tx>
          <c:spPr>
            <a:solidFill>
              <a:srgbClr val="78A8F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7111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Allocation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18.1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Security &amp; legal</c:v>
                </c:pt>
              </c:strCache>
            </c:strRef>
          </c:tx>
          <c:spPr>
            <a:solidFill>
              <a:srgbClr val="FFB25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7111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Allocation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10.3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Discovery &amp; paid pilots</c:v>
                </c:pt>
              </c:strCache>
            </c:strRef>
          </c:tx>
          <c:spPr>
            <a:solidFill>
              <a:srgbClr val="84DFA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7111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Allocation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7.7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Contingency</c:v>
                </c:pt>
              </c:strCache>
            </c:strRef>
          </c:tx>
          <c:spPr>
            <a:solidFill>
              <a:srgbClr val="D9A6F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7111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Allocation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13.6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07111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9B7C9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A9B7C9"/>
                </a:solidFill>
                <a:latin typeface="Calibri"/>
              </a:rPr>
              <a:t>Revenue, gross profit, EBITDA (Rp miliar)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8D6C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A9B7C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</c:v>
                </c:pt>
                <c:pt idx="1">
                  <c:v>3.4</c:v>
                </c:pt>
                <c:pt idx="2">
                  <c:v>10.5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78A8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A9B7C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0.37</c:v>
                </c:pt>
                <c:pt idx="1">
                  <c:v>2.55</c:v>
                </c:pt>
                <c:pt idx="2">
                  <c:v>8.19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FFB2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A9B7C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-2.63</c:v>
                </c:pt>
                <c:pt idx="1">
                  <c:v>-2.25</c:v>
                </c:pt>
                <c:pt idx="2">
                  <c:v>1.29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A9B7C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7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E2F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7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9B7C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&amp; team</c:v>
                </c:pt>
              </c:strCache>
            </c:strRef>
          </c:tx>
          <c:spPr>
            <a:solidFill>
              <a:srgbClr val="58D6C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7111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Use of funds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Infra, security, reliability</c:v>
                </c:pt>
              </c:strCache>
            </c:strRef>
          </c:tx>
          <c:spPr>
            <a:solidFill>
              <a:srgbClr val="78A8F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7111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Use of funds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Sales &amp; customer success</c:v>
                </c:pt>
              </c:strCache>
            </c:strRef>
          </c:tx>
          <c:spPr>
            <a:solidFill>
              <a:srgbClr val="FFB25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7111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Use of funds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Legal, compliance, operations</c:v>
                </c:pt>
              </c:strCache>
            </c:strRef>
          </c:tx>
          <c:spPr>
            <a:solidFill>
              <a:srgbClr val="84DFA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7111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Use of funds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Contingency</c:v>
                </c:pt>
              </c:strCache>
            </c:strRef>
          </c:tx>
          <c:spPr>
            <a:solidFill>
              <a:srgbClr val="D9A6F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7111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Use of funds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07111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DISCUSSION DECK • AGUSTUS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280160" y="1828800"/>
            <a:ext cx="9628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API untuk object storage yang tidak lagi terikat satu provider.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194560" y="4160520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object storage control plane dan data gateway untuk perusahaan yang melayani banyak client.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32408" y="5166360"/>
            <a:ext cx="1463040" cy="310896"/>
          </a:xfrm>
          <a:prstGeom prst="roundRect">
            <a:avLst>
              <a:gd name="adj" fmla="val 11765"/>
            </a:avLst>
          </a:prstGeom>
          <a:ln w="12700">
            <a:solidFill>
              <a:srgbClr val="3A4A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2408" y="51663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Concept-stage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69768" y="51663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/ SEA B2B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21528" y="51663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keuangan belum diaudit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Object Storage SaaS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YANG JUJUR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Peluangnya nyata—tetapi bisnis ini gagal bila bandwidth dan kompatibilitas dianggap detail teknis.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6035040" cy="1170432"/>
          </a:xfrm>
          <a:prstGeom prst="roundRect">
            <a:avLst>
              <a:gd name="adj" fmla="val 6250"/>
            </a:avLst>
          </a:prstGeom>
          <a:solidFill>
            <a:srgbClr val="0F203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7802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kuat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API, scoped credentials, quota, audit, dan placement lintas-provider.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6035040" cy="1170432"/>
          </a:xfrm>
          <a:prstGeom prst="roundRect">
            <a:avLst>
              <a:gd name="adj" fmla="val 6250"/>
            </a:avLst>
          </a:prstGeom>
          <a:solidFill>
            <a:srgbClr val="0F203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8039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adalah pusat risiko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proxy meningkatkan kontrol, tetapi juga bandwidth, COGS, dan operational burden.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983480"/>
            <a:ext cx="6035040" cy="1170432"/>
          </a:xfrm>
          <a:prstGeom prst="roundRect">
            <a:avLst>
              <a:gd name="adj" fmla="val 6250"/>
            </a:avLst>
          </a:prstGeom>
          <a:solidFill>
            <a:srgbClr val="0F203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297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bukti komersial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48640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historical CAC, churn, revenue, atau compatibility data produksi.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0" y="2331720"/>
            <a:ext cx="4419295" cy="3794760"/>
          </a:xfrm>
          <a:prstGeom prst="roundRect">
            <a:avLst>
              <a:gd name="adj" fmla="val 1928"/>
            </a:avLst>
          </a:prstGeom>
          <a:solidFill>
            <a:srgbClr val="142A44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2606040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PREMISE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3017520"/>
            <a:ext cx="3870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awal harus membeli evidence: design partners, reliability, willingness to pay, dan unit economics.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406640" y="4663440"/>
            <a:ext cx="3870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membiayai scale sebelum product-market fit terbukti.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investasi: milestone-based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Perusahaan multi-client mengulang masalah storage yang sama untuk setiap pelanggan.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0F203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60604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provider tersebar di banyak aplikasi dan environment.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harus memahami endpoint, region, bucket, serta policy provider.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Quota, audit, dan folder access tidak konsisten.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provider menyentuh aplikasi bisnis satu per satu.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0" y="2468880"/>
            <a:ext cx="4785055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90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× M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766560" y="3520440"/>
            <a:ext cx="4785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aplikasi × M provider menciptakan integration sprawl.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4343400"/>
            <a:ext cx="4785055" cy="0"/>
          </a:xfrm>
          <a:prstGeom prst="line">
            <a:avLst/>
          </a:prstGeom>
          <a:noFill/>
          <a:ln w="12700">
            <a:solidFill>
              <a:srgbClr val="2637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4526280"/>
            <a:ext cx="47850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tersembunyi bukan hanya storage—tetapi engineering, support, credential risk, dan perubahan provider.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pain: governance dan abstraction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virtual namespace memisahkan aplikasi client dari provider fisik.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0928" y="24231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142A44"/>
          </a:solidFill>
          <a:ln/>
        </p:spPr>
      </p:sp>
      <p:sp>
        <p:nvSpPr>
          <p:cNvPr id="5" name="Shape 3"/>
          <p:cNvSpPr/>
          <p:nvPr/>
        </p:nvSpPr>
        <p:spPr>
          <a:xfrm>
            <a:off x="1249528" y="2651760"/>
            <a:ext cx="146304" cy="146304"/>
          </a:xfrm>
          <a:prstGeom prst="ellipse">
            <a:avLst/>
          </a:prstGeom>
          <a:solidFill>
            <a:srgbClr val="58D6C7"/>
          </a:solidFill>
          <a:ln/>
        </p:spPr>
      </p:sp>
      <p:sp>
        <p:nvSpPr>
          <p:cNvPr id="6" name="Text 4"/>
          <p:cNvSpPr/>
          <p:nvPr/>
        </p:nvSpPr>
        <p:spPr>
          <a:xfrm>
            <a:off x="1523848" y="25694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49528" y="308152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API key atau S3-compatible config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47008" y="242316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632808" y="24231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142A44"/>
          </a:solidFill>
          <a:ln/>
        </p:spPr>
      </p:sp>
      <p:sp>
        <p:nvSpPr>
          <p:cNvPr id="10" name="Shape 8"/>
          <p:cNvSpPr/>
          <p:nvPr/>
        </p:nvSpPr>
        <p:spPr>
          <a:xfrm>
            <a:off x="4861408" y="2651760"/>
            <a:ext cx="146304" cy="146304"/>
          </a:xfrm>
          <a:prstGeom prst="ellipse">
            <a:avLst/>
          </a:prstGeom>
          <a:solidFill>
            <a:srgbClr val="78A8FF"/>
          </a:solidFill>
          <a:ln/>
        </p:spPr>
      </p:sp>
      <p:sp>
        <p:nvSpPr>
          <p:cNvPr id="11" name="Text 9"/>
          <p:cNvSpPr/>
          <p:nvPr/>
        </p:nvSpPr>
        <p:spPr>
          <a:xfrm>
            <a:off x="5135728" y="25694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gateway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61408" y="308152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prefix policy, quota, placement, usage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58888" y="242316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44688" y="24231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142A44"/>
          </a:solidFill>
          <a:ln/>
        </p:spPr>
      </p:sp>
      <p:sp>
        <p:nvSpPr>
          <p:cNvPr id="15" name="Shape 13"/>
          <p:cNvSpPr/>
          <p:nvPr/>
        </p:nvSpPr>
        <p:spPr>
          <a:xfrm>
            <a:off x="8473288" y="2651760"/>
            <a:ext cx="146304" cy="146304"/>
          </a:xfrm>
          <a:prstGeom prst="ellipse">
            <a:avLst/>
          </a:prstGeom>
          <a:solidFill>
            <a:srgbClr val="FFB25B"/>
          </a:solidFill>
          <a:ln/>
        </p:spPr>
      </p:sp>
      <p:sp>
        <p:nvSpPr>
          <p:cNvPr id="16" name="Text 14"/>
          <p:cNvSpPr/>
          <p:nvPr/>
        </p:nvSpPr>
        <p:spPr>
          <a:xfrm>
            <a:off x="8747608" y="25694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providers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73288" y="308152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R2, B2, MinIO, generic S3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33933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25696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API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40080" y="491947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abstraction untuk client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99178" y="4297680"/>
            <a:ext cx="33933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99178" y="4425696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Prefix ACL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4399178" y="491947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scoped ke logical folder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58277" y="4297680"/>
            <a:ext cx="33933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8277" y="4425696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8158277" y="491947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weight, threshold, health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BYOS: customer tetap memiliki provider account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YANG MENJAGA MARGIN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plane shared; data plane dipilih sesuai kebutuhan dan willingness to pay.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27168" cy="2331720"/>
          </a:xfrm>
          <a:prstGeom prst="roundRect">
            <a:avLst>
              <a:gd name="adj" fmla="val 3137"/>
            </a:avLst>
          </a:prstGeom>
          <a:solidFill>
            <a:srgbClr val="0F20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87168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direct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67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mengirim file langsung ke provider melalui presigned URL.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dan bottleneck gateway lebih rendah.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hostname dapat terlihat.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OPNsense tidak melihat trafik tersebut.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24448" y="2286000"/>
            <a:ext cx="5227168" cy="2331720"/>
          </a:xfrm>
          <a:prstGeom prst="roundRect">
            <a:avLst>
              <a:gd name="adj" fmla="val 3137"/>
            </a:avLst>
          </a:prstGeom>
          <a:solidFill>
            <a:srgbClr val="0F2036"/>
          </a:solidFill>
          <a:ln/>
        </p:spPr>
      </p:sp>
      <p:sp>
        <p:nvSpPr>
          <p:cNvPr id="9" name="Text 7"/>
          <p:cNvSpPr/>
          <p:nvPr/>
        </p:nvSpPr>
        <p:spPr>
          <a:xfrm>
            <a:off x="6598768" y="2487168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proxy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98768" y="2880360"/>
            <a:ext cx="467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byte melewati gateway produk.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98768" y="3566160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endpoint dan provider tersembunyi.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dapat di-shape.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COGS, TLS, socket, dan HA meningkat.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5181448" cy="960120"/>
          </a:xfrm>
          <a:prstGeom prst="roundRect">
            <a:avLst>
              <a:gd name="adj" fmla="val 7619"/>
            </a:avLst>
          </a:prstGeom>
          <a:solidFill>
            <a:srgbClr val="142A44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020056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hybrid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330952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untuk volume besar; proxy sebagai fitur premium atau requirement khusus.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70168" y="4892040"/>
            <a:ext cx="5181448" cy="960120"/>
          </a:xfrm>
          <a:prstGeom prst="roundRect">
            <a:avLst>
              <a:gd name="adj" fmla="val 7619"/>
            </a:avLst>
          </a:prstGeom>
          <a:solidFill>
            <a:srgbClr val="142A44"/>
          </a:solidFill>
          <a:ln/>
        </p:spPr>
      </p:sp>
      <p:sp>
        <p:nvSpPr>
          <p:cNvPr id="16" name="Text 14"/>
          <p:cNvSpPr/>
          <p:nvPr/>
        </p:nvSpPr>
        <p:spPr>
          <a:xfrm>
            <a:off x="6598768" y="5020056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OPNsense: hard cap, bukan billing 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98768" y="5330952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entitlement tetap ditegakkan oleh aplikasi dan Redis.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bergantung pada transfer mix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Mulai dari governance yang dibayar pelanggan—bukan mengejar seluruh fitur S3.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27168" cy="3794760"/>
          </a:xfrm>
          <a:prstGeom prst="roundRect">
            <a:avLst>
              <a:gd name="adj" fmla="val 1928"/>
            </a:avLst>
          </a:prstGeom>
          <a:solidFill>
            <a:srgbClr val="0F20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yang dijual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46785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organization dan RBAC.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registry dan bucket import.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namespace dan file explorer.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API credentials dan quota.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Priority/weighted placement.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usage, dan reconciliation.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4448" y="2240280"/>
            <a:ext cx="5227168" cy="3794760"/>
          </a:xfrm>
          <a:prstGeom prst="roundRect">
            <a:avLst>
              <a:gd name="adj" fmla="val 1928"/>
            </a:avLst>
          </a:prstGeom>
          <a:solidFill>
            <a:srgbClr val="0F2036"/>
          </a:solidFill>
          <a:ln/>
        </p:spPr>
      </p:sp>
      <p:sp>
        <p:nvSpPr>
          <p:cNvPr id="8" name="Text 6"/>
          <p:cNvSpPr/>
          <p:nvPr/>
        </p:nvSpPr>
        <p:spPr>
          <a:xfrm>
            <a:off x="6598768" y="246888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Sengaja ditunda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98768" y="3017520"/>
            <a:ext cx="46785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AWS S3 parity.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dan erasure coding.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Non-S3 protocols.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Lifecycle/versioning normalization.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Private-network connector.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full stack per tenant.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REST API lebih dulu; S3 facade setelah demand terbukti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Pembeli awal adalah perusahaan yang sudah memiliki banyak client—dan sudah merasakan integration sprawl.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33933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51176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304495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storage dan credential beberapa pelanggan.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99178" y="2423160"/>
            <a:ext cx="33933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99178" y="2551176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B2B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399178" y="304495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isolated client storage tanpa provider coupling.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58277" y="2423160"/>
            <a:ext cx="33933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8277" y="2551176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/ SI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158277" y="304495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Menyerahkan API storage ke banyak project/client.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0F203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23944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gate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48056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dua provider/bucket, kebutuhan credential delegation, dan pain yang bernilai setidaknya Rp5 juta per bulan.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 ICP ini belum tervalidasi. Design-partner interviews harus dilakukan sebelum sales hiring besar.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Indonesia, lalu SEA melalui partner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YANG SUDAH 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Kami tidak menggantikan storage provider; kami menjual control layer di atasnya.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11535" cy="265176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32785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Kuat 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Kesenjangan yang ditargetkan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console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features dan reliability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Single-provider; client abstraction tetap dibuat sendiri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Cyberduck / rclone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dan operator tooling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Bukan SaaS multi-tenant API control plane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MinIO / Ceph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object 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ownership tinggi; bukan BYOS aggregator sederhana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ke kebutuhan internal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cost berulang dan sulit distandardisasi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0F2036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266944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 yang realistis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5623560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test corpus, policy engine, operational reliability, integrations, dan switching cost—bukan algoritma rahasia.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dibangun melalui execution dan trust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untuk control plane; proxy traffic tidak pernah dijual unlimited.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911535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4602175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 asumsi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utama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plane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8D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Rp1,5 jt/bln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namespace, API credential, usage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preferred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8D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Rp5 jt/bln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Multi-provider placement, quota, audit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gateway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8D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Rp12 jt/bln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pool, support, advanced policy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Metered proxy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8D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Mulai Rp30 jt/bln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gateway/VIP dan support terms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cap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92040"/>
            <a:ext cx="33933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0056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BYOS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40080" y="551383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membayar provider langsung.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99178" y="4892040"/>
            <a:ext cx="33933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99178" y="5020056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Rp10–75 jt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4399178" y="551383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Asumsi setup/onboarding satu kali.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58277" y="4892040"/>
            <a:ext cx="33933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58277" y="5020056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Metered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8158277" y="551383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per GB setelah transit quote tervalidasi.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harus divalidasi dengan 10 design partners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HYPOTHESIS &amp; 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Ukuran peluang dihitung bottom-up—tanpa TAM yang belum bisa dibuktikan.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3291840" cy="665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58D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Rp48 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potential dari 500 target accounts × Rp8 juta blended MRR.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target-account hypothesis, bukan market statistic.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57714" y="2606040"/>
            <a:ext cx="6625308" cy="0"/>
          </a:xfrm>
          <a:prstGeom prst="line">
            <a:avLst/>
          </a:prstGeom>
          <a:noFill/>
          <a:ln w="19050">
            <a:solidFill>
              <a:srgbClr val="2A3C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5418" y="2523744"/>
            <a:ext cx="164592" cy="164592"/>
          </a:xfrm>
          <a:prstGeom prst="ellipse">
            <a:avLst/>
          </a:prstGeom>
          <a:solidFill>
            <a:srgbClr val="07111F"/>
          </a:solidFill>
          <a:ln w="31750">
            <a:solidFill>
              <a:srgbClr val="58D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807208"/>
            <a:ext cx="165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bln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3136392"/>
            <a:ext cx="1653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interviews, 5 design partners, provider spikes.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66041" y="2523744"/>
            <a:ext cx="164592" cy="164592"/>
          </a:xfrm>
          <a:prstGeom prst="ellipse">
            <a:avLst/>
          </a:prstGeom>
          <a:solidFill>
            <a:srgbClr val="07111F"/>
          </a:solidFill>
          <a:ln w="31750">
            <a:solidFill>
              <a:srgbClr val="58D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9744" y="2807208"/>
            <a:ext cx="165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bln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9744" y="3136392"/>
            <a:ext cx="1653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beta dan 3 paid pilots.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6665" y="2523744"/>
            <a:ext cx="164592" cy="164592"/>
          </a:xfrm>
          <a:prstGeom prst="ellipse">
            <a:avLst/>
          </a:prstGeom>
          <a:solidFill>
            <a:srgbClr val="07111F"/>
          </a:solidFill>
          <a:ln w="31750">
            <a:solidFill>
              <a:srgbClr val="78A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0368" y="2807208"/>
            <a:ext cx="165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 bln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70368" y="3136392"/>
            <a:ext cx="1653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sales; target 10 paying orgs.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947289" y="2523744"/>
            <a:ext cx="164592" cy="164592"/>
          </a:xfrm>
          <a:prstGeom prst="ellipse">
            <a:avLst/>
          </a:prstGeom>
          <a:solidFill>
            <a:srgbClr val="07111F"/>
          </a:solidFill>
          <a:ln w="31750">
            <a:solidFill>
              <a:srgbClr val="FFB2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60991" y="2807208"/>
            <a:ext cx="165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13–18 bln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60991" y="3136392"/>
            <a:ext cx="1653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Channel/MSP motion; target 25 paying orgs.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4434840"/>
            <a:ext cx="7162495" cy="1600200"/>
          </a:xfrm>
          <a:prstGeom prst="roundRect">
            <a:avLst>
              <a:gd name="adj" fmla="val 4571"/>
            </a:avLst>
          </a:prstGeom>
          <a:solidFill>
            <a:srgbClr val="0F2036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581144"/>
            <a:ext cx="6705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sales cycle: 2–6 bulan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17720" y="4937760"/>
            <a:ext cx="6705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review, provider testing, dan migration concern memperlambat enterprise close.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Y3: 150 accounts; bukan asumsi pasar yang sudah dimiliki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AWAL • 0–6 BULAN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Rp1,55 miliar untuk membangun beta yang dapat diuji pelanggan.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5120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Rp1,55 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Budgetary estimate; bukan quotation vendor.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3703320"/>
          <a:ext cx="5120640" cy="960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2478024"/>
            <a:ext cx="128016" cy="128016"/>
          </a:xfrm>
          <a:prstGeom prst="ellipse">
            <a:avLst/>
          </a:prstGeom>
          <a:solidFill>
            <a:srgbClr val="58D6C7"/>
          </a:solidFill>
          <a:ln/>
        </p:spPr>
      </p:sp>
      <p:sp>
        <p:nvSpPr>
          <p:cNvPr id="8" name="Text 5"/>
          <p:cNvSpPr/>
          <p:nvPr/>
        </p:nvSpPr>
        <p:spPr>
          <a:xfrm>
            <a:off x="6565392" y="242316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271455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Rp780 jt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2898648"/>
            <a:ext cx="128016" cy="128016"/>
          </a:xfrm>
          <a:prstGeom prst="ellipse">
            <a:avLst/>
          </a:prstGeom>
          <a:solidFill>
            <a:srgbClr val="78A8FF"/>
          </a:solidFill>
          <a:ln/>
        </p:spPr>
      </p:sp>
      <p:sp>
        <p:nvSpPr>
          <p:cNvPr id="11" name="Text 8"/>
          <p:cNvSpPr/>
          <p:nvPr/>
        </p:nvSpPr>
        <p:spPr>
          <a:xfrm>
            <a:off x="6565392" y="2843784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Infra, hardware, gateway lab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271455" y="2843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Rp280 jt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3319272"/>
            <a:ext cx="128016" cy="128016"/>
          </a:xfrm>
          <a:prstGeom prst="ellipse">
            <a:avLst/>
          </a:prstGeom>
          <a:solidFill>
            <a:srgbClr val="FFB25B"/>
          </a:solidFill>
          <a:ln/>
        </p:spPr>
      </p:sp>
      <p:sp>
        <p:nvSpPr>
          <p:cNvPr id="14" name="Text 11"/>
          <p:cNvSpPr/>
          <p:nvPr/>
        </p:nvSpPr>
        <p:spPr>
          <a:xfrm>
            <a:off x="6565392" y="3264408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legal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271455" y="3264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Rp160 jt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09360" y="3739896"/>
            <a:ext cx="128016" cy="128016"/>
          </a:xfrm>
          <a:prstGeom prst="ellipse">
            <a:avLst/>
          </a:prstGeom>
          <a:solidFill>
            <a:srgbClr val="84DFA6"/>
          </a:solidFill>
          <a:ln/>
        </p:spPr>
      </p:sp>
      <p:sp>
        <p:nvSpPr>
          <p:cNvPr id="17" name="Text 14"/>
          <p:cNvSpPr/>
          <p:nvPr/>
        </p:nvSpPr>
        <p:spPr>
          <a:xfrm>
            <a:off x="6565392" y="368503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paid pilots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271455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Rp120 jt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309360" y="4160520"/>
            <a:ext cx="128016" cy="128016"/>
          </a:xfrm>
          <a:prstGeom prst="ellipse">
            <a:avLst/>
          </a:prstGeom>
          <a:solidFill>
            <a:srgbClr val="D9A6F5"/>
          </a:solidFill>
          <a:ln/>
        </p:spPr>
      </p:sp>
      <p:sp>
        <p:nvSpPr>
          <p:cNvPr id="20" name="Text 17"/>
          <p:cNvSpPr/>
          <p:nvPr/>
        </p:nvSpPr>
        <p:spPr>
          <a:xfrm>
            <a:off x="6565392" y="4105656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271455" y="4105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Rp210 jt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0F2036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221224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belum termasuk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68680" y="5577840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equity, tax/VAT, enterprise compliance certification besar, dan full S3-compatible facade.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plan, bukan current headcount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SETELAH BETA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burn sekitar Rp285 juta per bulan—sebelum variable proxy COGS.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5394960" cy="3108960"/>
        </p:xfrm>
        <a:graphic>
          <a:graphicData uri="http://schemas.openxmlformats.org/drawingml/2006/table">
            <a:tbl>
              <a:tblPr/>
              <a:tblGrid>
                <a:gridCol w="3840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&amp; benefits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Rp175 jt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Cloud, gateway, network/colo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Rp45 jt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Security, tools, legal/accounting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Rp15 jt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marketing, customer success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Rp35 jt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contingency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Rp15 jt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monthly burn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B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Rp285 jt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2423160"/>
            <a:ext cx="4967935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Rp3,42 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583680" y="3154680"/>
            <a:ext cx="4967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bulan operasi setelah beta pada burn dasar.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0" y="3840480"/>
            <a:ext cx="4967935" cy="0"/>
          </a:xfrm>
          <a:prstGeom prst="line">
            <a:avLst/>
          </a:prstGeom>
          <a:noFill/>
          <a:ln w="12700">
            <a:solidFill>
              <a:srgbClr val="263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4023360"/>
            <a:ext cx="49679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bandwidth bertambah mengikuti volume.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support belum sepenuhnya dibiayai.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enterprise gateway harus dibayar customer.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Rp285 jt × 12 = Rp3,42 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Gross margin hanya menarik bila sebagian besar byte tidak melewati gateway.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0F20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4D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Direct-heavy mix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852928"/>
            <a:ext cx="4678528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84D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75–82%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3456432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gross margin setelah scale awal.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membayar storage provider; platform menanggung control plane dan limited transfer.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24448" y="228600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0F2036"/>
          </a:solidFill>
          <a:ln/>
        </p:spPr>
      </p:sp>
      <p:sp>
        <p:nvSpPr>
          <p:cNvPr id="10" name="Text 8"/>
          <p:cNvSpPr/>
          <p:nvPr/>
        </p:nvSpPr>
        <p:spPr>
          <a:xfrm>
            <a:off x="6598768" y="246888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Proxy-heavy mix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98768" y="2852928"/>
            <a:ext cx="4678528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90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598768" y="3456432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terjadi bila bandwidth dijual terlalu murah.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98768" y="37490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 ada per-GB charge, hard cap, atau dedicated gateway fee.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5181448" cy="1234440"/>
          </a:xfrm>
          <a:prstGeom prst="roundRect">
            <a:avLst>
              <a:gd name="adj" fmla="val 5926"/>
            </a:avLst>
          </a:prstGeom>
          <a:solidFill>
            <a:srgbClr val="142A4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672584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economics tidak seragam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98348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menyatakan direct egress gratis; B2 memberi free egress sampai batas tertentu; AWS bergantung region/path.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70168" y="4526280"/>
            <a:ext cx="5181448" cy="1234440"/>
          </a:xfrm>
          <a:prstGeom prst="roundRect">
            <a:avLst>
              <a:gd name="adj" fmla="val 5926"/>
            </a:avLst>
          </a:prstGeom>
          <a:solidFill>
            <a:srgbClr val="142A44"/>
          </a:solidFill>
          <a:ln/>
        </p:spPr>
      </p:sp>
      <p:sp>
        <p:nvSpPr>
          <p:cNvPr id="18" name="Text 16"/>
          <p:cNvSpPr/>
          <p:nvPr/>
        </p:nvSpPr>
        <p:spPr>
          <a:xfrm>
            <a:off x="6598768" y="4672584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OPNsense menjaga fairness, bukan margin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98768" y="498348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membatasi Mbps tetapi tidak menghapus biaya per GB atau transit.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range adalah target model, belum observed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8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• 3 TAHUN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case baru mencapai EBITDA positif pada tahun ketiga.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5120640" cy="256032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expense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90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90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4D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Paying orgs EOY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983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miliar, nominal; tax/VAT dan financing cost tidak dimodelkan.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263640" y="2286000"/>
          <a:ext cx="5287975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• Gross profit • EBITDA magnitude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Downside case tidak mencapai break-even dalam tiga tahun.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11535" cy="1828800"/>
        </p:xfrm>
        <a:graphic>
          <a:graphicData uri="http://schemas.openxmlformats.org/drawingml/2006/table">
            <a:tbl>
              <a:tblPr/>
              <a:tblGrid>
                <a:gridCol w="1463040"/>
                <a:gridCol w="1234440"/>
                <a:gridCol w="1234440"/>
                <a:gridCol w="1234440"/>
                <a:gridCol w="1234440"/>
                <a:gridCol w="45107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Y1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Y2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Y3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Y3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 yang terjadi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90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90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lambat, proxy mix tinggi, enterprise tertunda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8D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4D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org di M18; margin membaik dengan direct transfer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D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4D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7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Channel/MSP bekerja dan enterprise dedicated terjual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34840"/>
            <a:ext cx="33933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562856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90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org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40080" y="505663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target M18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99178" y="4434840"/>
            <a:ext cx="33933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99178" y="4562856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8D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org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4399178" y="505663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target M18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58277" y="4434840"/>
            <a:ext cx="33933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58277" y="4562856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4D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org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8158277" y="5056632"/>
            <a:ext cx="3393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target M18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56235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probabilitas yang dipaksakan. Scenario harus diperbarui setelah 10 paid customers dan 6 bulan usage data.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miliar • model internal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Rp5,5 miliar untuk 18 bulan—membeli bukti, bukan menjanjikan profit.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142A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50592"/>
            <a:ext cx="27432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B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Rp5,5 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749040" y="2450592"/>
            <a:ext cx="7528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Rp1,55 M build + Rp3,42 M post-beta operations + Rp0,53 M reserve.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2944368"/>
            <a:ext cx="7528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belum break-even dalam seed runway. Follow-on funding mungkin dibutuhkan pada bulan 16–20.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3794760"/>
          <a:ext cx="10911535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983480"/>
            <a:ext cx="118872" cy="118872"/>
          </a:xfrm>
          <a:prstGeom prst="ellipse">
            <a:avLst/>
          </a:prstGeom>
          <a:solidFill>
            <a:srgbClr val="58D6C7"/>
          </a:solidFill>
          <a:ln/>
        </p:spPr>
      </p:sp>
      <p:sp>
        <p:nvSpPr>
          <p:cNvPr id="10" name="Text 7"/>
          <p:cNvSpPr/>
          <p:nvPr/>
        </p:nvSpPr>
        <p:spPr>
          <a:xfrm>
            <a:off x="877824" y="4937760"/>
            <a:ext cx="380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team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69968" y="4937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Rp2,75 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70168" y="4983480"/>
            <a:ext cx="118872" cy="118872"/>
          </a:xfrm>
          <a:prstGeom prst="ellipse">
            <a:avLst/>
          </a:prstGeom>
          <a:solidFill>
            <a:srgbClr val="78A8FF"/>
          </a:solidFill>
          <a:ln/>
        </p:spPr>
      </p:sp>
      <p:sp>
        <p:nvSpPr>
          <p:cNvPr id="13" name="Text 10"/>
          <p:cNvSpPr/>
          <p:nvPr/>
        </p:nvSpPr>
        <p:spPr>
          <a:xfrm>
            <a:off x="6607912" y="4937760"/>
            <a:ext cx="380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Infra, security, reliability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00055" y="4937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Rp0,88 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5404104"/>
            <a:ext cx="118872" cy="118872"/>
          </a:xfrm>
          <a:prstGeom prst="ellipse">
            <a:avLst/>
          </a:prstGeom>
          <a:solidFill>
            <a:srgbClr val="FFB25B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" y="5358384"/>
            <a:ext cx="380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customer success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69968" y="53583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Rp0,77 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70168" y="5404104"/>
            <a:ext cx="118872" cy="118872"/>
          </a:xfrm>
          <a:prstGeom prst="ellipse">
            <a:avLst/>
          </a:prstGeom>
          <a:solidFill>
            <a:srgbClr val="84DFA6"/>
          </a:solidFill>
          <a:ln/>
        </p:spPr>
      </p:sp>
      <p:sp>
        <p:nvSpPr>
          <p:cNvPr id="19" name="Text 16"/>
          <p:cNvSpPr/>
          <p:nvPr/>
        </p:nvSpPr>
        <p:spPr>
          <a:xfrm>
            <a:off x="6607912" y="5358384"/>
            <a:ext cx="380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compliance, operations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500055" y="53583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Rp0,55 M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5824728"/>
            <a:ext cx="118872" cy="118872"/>
          </a:xfrm>
          <a:prstGeom prst="ellipse">
            <a:avLst/>
          </a:prstGeom>
          <a:solidFill>
            <a:srgbClr val="D9A6F5"/>
          </a:solidFill>
          <a:ln/>
        </p:spPr>
      </p:sp>
      <p:sp>
        <p:nvSpPr>
          <p:cNvPr id="22" name="Text 19"/>
          <p:cNvSpPr/>
          <p:nvPr/>
        </p:nvSpPr>
        <p:spPr>
          <a:xfrm>
            <a:off x="877824" y="5779008"/>
            <a:ext cx="380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69968" y="57790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Rp0,55 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M18: 25 paying orgs • Rp150 jt MRR • ARR run-rate Rp1,8 M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 terbesar bukan kompetitor—tetapi keamanan, margin, reliability, dan penjualan.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66928" cy="566928"/>
          </a:xfrm>
          <a:prstGeom prst="ellipse">
            <a:avLst/>
          </a:prstGeom>
          <a:ln w="25400">
            <a:solidFill>
              <a:srgbClr val="FF90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389888" y="2423160"/>
            <a:ext cx="447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atau tenant leak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9888" y="2770632"/>
            <a:ext cx="447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KMS/envelope encryption, org-scoped queries, isolation tests, break-glass audit.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24448" y="2468880"/>
            <a:ext cx="566928" cy="566928"/>
          </a:xfrm>
          <a:prstGeom prst="ellipse">
            <a:avLst/>
          </a:prstGeom>
          <a:ln w="25400">
            <a:solidFill>
              <a:srgbClr val="FF90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74256" y="2423160"/>
            <a:ext cx="447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bandwidth merusak margin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74256" y="2770632"/>
            <a:ext cx="447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transfer, metered pricing, OPNsense cap, dedicated gateway fee.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566928" cy="566928"/>
          </a:xfrm>
          <a:prstGeom prst="ellipse">
            <a:avLst/>
          </a:prstGeom>
          <a:ln w="25400">
            <a:solidFill>
              <a:srgbClr val="FF90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89888" y="3758184"/>
            <a:ext cx="447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compatibility support burden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89888" y="4105656"/>
            <a:ext cx="447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support matrix, provider contract tests, limited MVP operations.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24448" y="3803904"/>
            <a:ext cx="566928" cy="566928"/>
          </a:xfrm>
          <a:prstGeom prst="ellipse">
            <a:avLst/>
          </a:prstGeom>
          <a:ln w="25400">
            <a:solidFill>
              <a:srgbClr val="FF90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448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74256" y="3758184"/>
            <a:ext cx="447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drift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74256" y="4105656"/>
            <a:ext cx="447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Gateway-only writes, object state machine, reconciliation, idempotency.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566928" cy="566928"/>
          </a:xfrm>
          <a:prstGeom prst="ellipse">
            <a:avLst/>
          </a:prstGeom>
          <a:ln w="25400">
            <a:solidFill>
              <a:srgbClr val="FF90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89888" y="5093208"/>
            <a:ext cx="447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terlalu lambat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89888" y="5440680"/>
            <a:ext cx="447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pilots, qualification gate, no large sales team before evidence.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24448" y="5138928"/>
            <a:ext cx="566928" cy="566928"/>
          </a:xfrm>
          <a:prstGeom prst="ellipse">
            <a:avLst/>
          </a:prstGeom>
          <a:ln w="25400">
            <a:solidFill>
              <a:srgbClr val="FF90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4448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74256" y="5093208"/>
            <a:ext cx="447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tidak mencapai profitability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74256" y="5440680"/>
            <a:ext cx="447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gates, burn cuts, bridge/follow-on planning by month 12.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mengurangi risiko; tidak menghilangkannya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94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YANG DIMINTA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280160" y="960120"/>
            <a:ext cx="9628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Danai pembuktian. Hentikan lebih awal bila buktinya lemah.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011680" y="2423160"/>
            <a:ext cx="24789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2551176"/>
            <a:ext cx="2478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011680" y="3044952"/>
            <a:ext cx="24789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design partners dan provider spike lulus.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56378" y="2423160"/>
            <a:ext cx="24789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6378" y="2551176"/>
            <a:ext cx="2478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856378" y="3044952"/>
            <a:ext cx="24789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paid pilots; tenant isolation dan quota tervalidasi.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01077" y="2423160"/>
            <a:ext cx="2478938" cy="0"/>
          </a:xfrm>
          <a:prstGeom prst="line">
            <a:avLst/>
          </a:prstGeom>
          <a:noFill/>
          <a:ln w="19050">
            <a:solidFill>
              <a:srgbClr val="2637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01077" y="2551176"/>
            <a:ext cx="2478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701077" y="3044952"/>
            <a:ext cx="24789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 paying orgs dan MRR ≥Rp50 juta.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737360" y="3977640"/>
            <a:ext cx="8716975" cy="1234440"/>
          </a:xfrm>
          <a:prstGeom prst="roundRect">
            <a:avLst>
              <a:gd name="adj" fmla="val 5926"/>
            </a:avLst>
          </a:prstGeom>
          <a:solidFill>
            <a:srgbClr val="0F2036"/>
          </a:solidFill>
          <a:ln/>
        </p:spPr>
      </p:sp>
      <p:sp>
        <p:nvSpPr>
          <p:cNvPr id="14" name="Text 12"/>
          <p:cNvSpPr/>
          <p:nvPr/>
        </p:nvSpPr>
        <p:spPr>
          <a:xfrm>
            <a:off x="1965960" y="4123944"/>
            <a:ext cx="8259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pivot trigger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65960" y="4480560"/>
            <a:ext cx="8259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M12 memiliki &lt;5 paying organizations, &gt;60% revenue berasal dari custom project, atau proxy contribution margin negatif tanpa pricing fix.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37360" y="5440680"/>
            <a:ext cx="8716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</a:t>
            </a:r>
            <a:pPr algn="ctr" indent="0" marL="0">
              <a:buNone/>
            </a:pPr>
            <a:r>
              <a:rPr lang="en-US" sz="160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Rp5,5 miliar untuk runway 18 bulan dan keputusan berbasis bukti.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Concept-stage • model perlu diganti dengan data aktual setiap quarter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80015" y="6473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2026-08-04T17:08:33Z</dcterms:created>
  <dcterms:modified xsi:type="dcterms:W3CDTF">2026-08-04T17:08:33Z</dcterms:modified>
</cp:coreProperties>
</file>